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2 seconds. Smile. Then begin with the hook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questions sit. Don't rush. Let the audience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number. Pause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Stress: 'It's not Buffett-level finance. It's daily-life finance.'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samosa example here for warmth and humor.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get technical. Say: 'Start early — that's the entire secret.'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down. Repeat: 'Track. Save. Invest.'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Maintain eye contact. Smile. Wait for applause before walking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63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BACHELOR OF FINANCIAL MARKETS  |  INDEPENDENT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Georgia"/>
              </a:rPr>
              <a:t>Why Financial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Georgia"/>
              </a:rPr>
              <a:t>Is the Most Important Skill for My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297680"/>
            <a:ext cx="18288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F5F7FA"/>
                </a:solidFill>
                <a:latin typeface="Calibri"/>
              </a:rPr>
              <a:t>An Independent Speech by [Student Name]  |  BFM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01  /  THE HOOK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B2545"/>
                </a:solidFill>
                <a:latin typeface="Georgia"/>
              </a:rPr>
              <a:t>How much money did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B2545"/>
                </a:solidFill>
                <a:latin typeface="Georgia"/>
              </a:rPr>
              <a:t>spend last month?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C9A227"/>
                </a:solidFill>
                <a:latin typeface="Georgia"/>
              </a:rPr>
              <a:t>And — where did it actually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Independent Speech &amp; Public Speaking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02  /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Georgia"/>
              </a:rPr>
              <a:t>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>
                <a:solidFill>
                  <a:srgbClr val="0B2545"/>
                </a:solidFill>
                <a:latin typeface="Georgia"/>
              </a:rPr>
              <a:t>27%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Georgia"/>
              </a:rPr>
              <a:t>of Indians are financially literate.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That means 3 out of every 4 people</a:t>
            </a:r>
          </a:p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around you don't fully understand</a:t>
            </a:r>
          </a:p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their own money.</a:t>
            </a:r>
          </a:p>
        </p:txBody>
      </p:sp>
      <p:sp>
        <p:nvSpPr>
          <p:cNvPr id="8" name="Oval 7"/>
          <p:cNvSpPr/>
          <p:nvPr/>
        </p:nvSpPr>
        <p:spPr>
          <a:xfrm>
            <a:off x="7927848" y="201168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80" y="2423160"/>
            <a:ext cx="731520" cy="100584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79408" y="2011680"/>
            <a:ext cx="329184" cy="32918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2423160"/>
            <a:ext cx="73152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30968" y="2011680"/>
            <a:ext cx="329184" cy="32918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2423160"/>
            <a:ext cx="73152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82528" y="2011680"/>
            <a:ext cx="329184" cy="32918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81360" y="2423160"/>
            <a:ext cx="73152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657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1 in 4 understands money.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023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3 in 4 don't.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Independent Speech &amp; Public Speaking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03  / 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0B2545"/>
                </a:solidFill>
                <a:latin typeface="Georgia"/>
              </a:rPr>
              <a:t>Financial Literacy = A Life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926080"/>
            <a:ext cx="32918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329184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23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344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Know what money is, where it comes from, and what it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926080"/>
            <a:ext cx="32918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92040" y="329184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291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023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66344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Track, budget, and control your spending without stress.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2926080"/>
            <a:ext cx="32918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9640" y="329184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291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023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Georgia"/>
              </a:rPr>
              <a:t>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66344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Save, invest, and build wealth — confidently and patiently.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Independent Speech &amp; Public Speaking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04  /  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Georgia"/>
              </a:rPr>
              <a:t>Our money moves faster than our understanding.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88036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UPI, instant loans, app-based investing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Money moves in 2 seconds. Decisions don't catch up.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3192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Scams, impulsive spending, inflation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Same phone that helps you save can also empty your wallet.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98348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Time is our biggest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Compounding rewards the early — not the big.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Independent Speech &amp; Public Speaking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05  /  COMPOUNDING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Compounding rewards the early,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not the big.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5F7FA"/>
                </a:solidFill>
                <a:latin typeface="Calibri"/>
              </a:rPr>
              <a:t>₹2,000/month from age 19 → can grow into something life-changing by 45.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126480"/>
            <a:ext cx="10972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5879592"/>
            <a:ext cx="1005840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Age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5682081"/>
            <a:ext cx="1005840" cy="4443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6217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Age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5385816"/>
            <a:ext cx="100584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6217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Age 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0256" y="5015484"/>
            <a:ext cx="1005840" cy="11109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6217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Age 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13648" y="4521708"/>
            <a:ext cx="1005840" cy="16047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6217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Age 39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3781044"/>
            <a:ext cx="1005840" cy="2345436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217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Age 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Independent Speech &amp; Public Speaking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06  / 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0B2545"/>
                </a:solidFill>
                <a:latin typeface="Georgia"/>
              </a:rPr>
              <a:t>Three Habits.  One Life Skill.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3474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4747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Every rupee</a:t>
            </a:r>
          </a:p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for 30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926080"/>
            <a:ext cx="3474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926080"/>
            <a:ext cx="34747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Follow the</a:t>
            </a:r>
          </a:p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50-30-20 rule.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926080"/>
            <a:ext cx="3474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926080"/>
            <a:ext cx="347472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37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INVEST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Start with</a:t>
            </a:r>
          </a:p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a ₹500 SIP.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Independent Speech &amp; Public Speaking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07  /  THE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 i="1">
                <a:solidFill>
                  <a:srgbClr val="F5F7FA"/>
                </a:solidFill>
                <a:latin typeface="Georgia"/>
              </a:rPr>
              <a:t>It's not about getting rich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It's about getting in control quietly.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3840480"/>
            <a:ext cx="18288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  <a:latin typeface="Calibri"/>
              </a:rPr>
              <a:t>Track every rupee you spend for the next 7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F5F7FA"/>
                </a:solidFill>
                <a:latin typeface="Calibri"/>
              </a:rPr>
              <a:t>That's where it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  <a:latin typeface="Calibri"/>
              </a:rPr>
              <a:t>[Student Name]   |   BFM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